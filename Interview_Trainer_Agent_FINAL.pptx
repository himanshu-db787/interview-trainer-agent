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g0M+d41dncvygVwIt2I23mDNlXn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B23C7E9-7621-4A58-8324-D5573EA4216E}">
  <a:tblStyle styleId="{9B23C7E9-7621-4A58-8324-D5573EA4216E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6" name="Google Shape;76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p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8" name="Google Shape;98;p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" name="Google Shape;104;p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0" name="Google Shape;110;p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2" name="Google Shape;122;p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8" name="Google Shape;128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" name="Google Shape;134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1" name="Google Shape;141;p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4" name="Google Shape;154;p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0" name="Google Shape;160;p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9" name="Google Shape;169;p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8" name="Google Shape;178;p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2" name="Google Shape;192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2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3" name="Google Shape;33;p2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2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5" name="Google Shape;35;p2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1" name="Google Shape;51;p2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2" name="Google Shape;52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3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9" name="Google Shape;59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b="1" lang="en-US" sz="6600"/>
              <a:t>IBM University Engagement Project Submission</a:t>
            </a:r>
            <a:br>
              <a:rPr b="1" lang="en-US"/>
            </a:br>
            <a:endParaRPr/>
          </a:p>
        </p:txBody>
      </p:sp>
      <p:sp>
        <p:nvSpPr>
          <p:cNvPr id="79" name="Google Shape;79;p33"/>
          <p:cNvSpPr txBox="1"/>
          <p:nvPr>
            <p:ph idx="1" type="body"/>
          </p:nvPr>
        </p:nvSpPr>
        <p:spPr>
          <a:xfrm>
            <a:off x="1014730" y="39036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b="1" i="1" lang="en-US"/>
              <a:t>“Exploring the Power of Agentic AI with IBM Granite”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r>
              <a:t/>
            </a:r>
            <a:endParaRPr b="1" i="0" sz="32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86" name="Google Shape;86;p2"/>
          <p:cNvGraphicFramePr/>
          <p:nvPr/>
        </p:nvGraphicFramePr>
        <p:xfrm>
          <a:off x="1299257" y="26003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{9B23C7E9-7621-4A58-8324-D5573EA4216E}</a:tableStyleId>
              </a:tblPr>
              <a:tblGrid>
                <a:gridCol w="2064875"/>
                <a:gridCol w="2443375"/>
                <a:gridCol w="2443375"/>
                <a:gridCol w="2443375"/>
              </a:tblGrid>
              <a:tr h="973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NAME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Recent Passport Photo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EMAIL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PHONE NO: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B9BD5"/>
                    </a:solidFill>
                  </a:tcPr>
                </a:tc>
              </a:tr>
              <a:tr h="1193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/>
                        <a:t>HIMANSHU DAS BISWAS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23052394@kiit.ac.in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7415894382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EEF"/>
                    </a:solidFill>
                  </a:tcPr>
                </a:tc>
              </a:tr>
            </a:tbl>
          </a:graphicData>
        </a:graphic>
      </p:graphicFrame>
      <p:pic>
        <p:nvPicPr>
          <p:cNvPr id="87" name="Google Shape;8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3206" y="3673540"/>
            <a:ext cx="1025226" cy="9939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2"/>
          <p:cNvSpPr txBox="1"/>
          <p:nvPr/>
        </p:nvSpPr>
        <p:spPr>
          <a:xfrm>
            <a:off x="1206164" y="1460724"/>
            <a:ext cx="1028025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Domain of  Project – </a:t>
            </a:r>
            <a:r>
              <a:rPr b="1" i="0" lang="en-US" sz="24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Education &amp; Career Development</a:t>
            </a:r>
            <a:endParaRPr b="1" i="0" sz="2400" u="none" cap="none" strike="noStrike">
              <a:solidFill>
                <a:srgbClr val="00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2"/>
          <p:cNvSpPr txBox="1"/>
          <p:nvPr/>
        </p:nvSpPr>
        <p:spPr>
          <a:xfrm>
            <a:off x="1206162" y="551965"/>
            <a:ext cx="958117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Title – </a:t>
            </a:r>
            <a:r>
              <a:rPr b="1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AI-Powered Interview Trainer Agent</a:t>
            </a:r>
            <a:endParaRPr b="1" i="0" sz="2400" u="none" cap="none" strike="noStrike">
              <a:solidFill>
                <a:srgbClr val="00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4"/>
          <p:cNvSpPr txBox="1"/>
          <p:nvPr/>
        </p:nvSpPr>
        <p:spPr>
          <a:xfrm>
            <a:off x="576072" y="1234440"/>
            <a:ext cx="10607040" cy="5047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 Statement : Interview Trainer Agent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Challenge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 Interview Trainer Agent, powered by RAG (Retrieval-Augmented Generation), prepares users for job interviews by generating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tailored question sets and preparation strategies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based on their profile, experience level, and job role. It retrieves role-specific interview questions, industry expectations, and behavioral scenarios. Users can input their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resume or job title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and the agent provides targeted questions, model answers, and improvement tips.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Objective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 an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AI-powered Interview Trainer Agent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that delivers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personalized interview preparation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job seekers across technical and non-technical roles. The solution should: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Personalized Question Generation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– Generate interview questions tailored to job role, experience level, and resume content.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RAG-Based Retrieval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– Retrieve relevant, role-specific interview questions from a curated knowledge base before generation.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 Answers &amp; Improvement Tips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– Provide concise model answers alongside specific, actionable improvement tips.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Technical &amp; Behavioral Coverage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– Support both technical assessment and soft-skill/behavioral interview prep.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Secure Session History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–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Authentication Agent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(JWT-based signup/login)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History Agent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(MongoDB-stored past interview sessions)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Granite Generation Agent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(direct watsonx.ai Runtime API calls)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Prompt Engineering Layer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(context-grounded RAG prompt construction)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Full-Stack Delivery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– React frontend, Node/Express backend, deployed on Vercel and Render.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34"/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 Statement -</a:t>
            </a:r>
            <a:endParaRPr b="1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5"/>
          <p:cNvSpPr txBox="1"/>
          <p:nvPr/>
        </p:nvSpPr>
        <p:spPr>
          <a:xfrm>
            <a:off x="500000" y="1291127"/>
            <a:ext cx="106071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Proposed Solution: AI-Powered Interview Trainer Agent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proposed solution is a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full-stack, multi-agent AI application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built using the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MERN stack, IBM watsonx.ai, and Granite Models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provide personalized interview simulations. The system addresses challenges in interview preparation through a tailored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Retrieval-Augmented Generation (RAG) pipeline.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system consists of key intelligent components: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Context Generation Agent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Retrieves and structures the candidate’s target job title, experience level, and resume snippets.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Assessment Mix Agent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Formulates a balanced set of technical and behavioral questions utilizing the IBM Granite foundation model.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Benchmarking &amp; Grading Agent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Delivers instant, high-quality model answers and actionable coaching feedback for each generated question.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solution includes a premium, user-friendly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React dashboard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that allows users to securely log in, configure their interview criteria, and instantly visualize their personalized questions and feedback.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35"/>
          <p:cNvSpPr txBox="1"/>
          <p:nvPr/>
        </p:nvSpPr>
        <p:spPr>
          <a:xfrm>
            <a:off x="576072" y="704088"/>
            <a:ext cx="7214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Proposed Solution -</a:t>
            </a:r>
            <a:endParaRPr b="1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6"/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Technology Used</a:t>
            </a:r>
            <a:endParaRPr b="1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36"/>
          <p:cNvSpPr txBox="1"/>
          <p:nvPr/>
        </p:nvSpPr>
        <p:spPr>
          <a:xfrm>
            <a:off x="777240" y="1351758"/>
            <a:ext cx="10515600" cy="46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IBM Granite Model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(e.g. Granite-4.0-8B-Instruct) for natural language understanding, technical reasoning, and personalized question generation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Langflow platform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For designing and orchestrating multi-agent prompt workflows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IBM Cloud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 Provides 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reliable, secure, and scalable environment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deploying AI endpoints.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RAG –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Retrieval-Augmented Generation 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fetch domain-specific reference interview patterns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make the agent trustworthy and effective.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IBM Watsonx.ai -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robust model deployment and AI governance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Vector Database / MongoDB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 For secure user authentication and data state management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7"/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</a:t>
            </a:r>
            <a:r>
              <a:rPr b="1" i="0" lang="en-US" sz="3500" u="none" cap="none" strike="noStrik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Components Used -</a:t>
            </a:r>
            <a:endParaRPr b="1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37"/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37"/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p37"/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" name="Google Shape;116;p37"/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" name="Google Shape;117;p37"/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" name="Google Shape;118;p37"/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p37"/>
          <p:cNvSpPr txBox="1"/>
          <p:nvPr/>
        </p:nvSpPr>
        <p:spPr>
          <a:xfrm>
            <a:off x="474822" y="863187"/>
            <a:ext cx="8823960" cy="52629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1) Auth Middleware 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 JWT-based signup/login; protects all interview-generation routes.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2) watsonx.ai Service 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Handles IAM token exchange and calls the Granite text-generation endpoint.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3) Name of IBM Granite model - 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ibm/granite-3-8b-instruct → Fast, efficient for real-time interview Q&amp;A generation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4) Prompt Builder -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Constructs structured prompts from job title, experience level, resume snippet, and RAG context.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5) </a:t>
            </a:r>
            <a:r>
              <a:rPr b="1" i="0" lang="en-US" sz="14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RAG Retrieval Layer - 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Fetches relevant interview questions from a curated dataset before generation.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6) 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MongoDB Models (User, InterviewSession) store users and generated Q&amp;A history.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40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8"/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System</a:t>
            </a:r>
            <a:r>
              <a:rPr b="1" i="0" lang="en-US" sz="3500" u="none" cap="none" strike="noStrik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Workflow -</a:t>
            </a:r>
            <a:endParaRPr b="1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screenshot of a computer  AI-generated content may be incorrect." id="125" name="Google Shape;125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5570" y="1139263"/>
            <a:ext cx="11468100" cy="550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"/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blueprint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" name="Google Shape;13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5570" y="675732"/>
            <a:ext cx="11468097" cy="6181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9"/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Role of Agentic AI in the solution </a:t>
            </a:r>
            <a:endParaRPr b="1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9"/>
          <p:cNvSpPr txBox="1"/>
          <p:nvPr/>
        </p:nvSpPr>
        <p:spPr>
          <a:xfrm>
            <a:off x="621792" y="1167493"/>
            <a:ext cx="7406640" cy="31085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Role of Agentic AI in the Interview Trainer Agent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Agentic AI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enables the Interview Trainer Agent to function as an autonomous coaching system rather than a static Q&amp;A lookup. Using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IBM watsonx.ai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IBM Granite models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it independently retrieves relevant context and generates structured, role-specific interview material.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agent performs multiple reasoning steps per request — interpreting job role and experience level, retrieving matching reference questions via RAG, then generating questions, model answers, and improvement tips — in a single autonomous pipeline. This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retrieval-then-generation approach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ensures grounded, trustworthy output rather than free-form hallucination.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agent also brings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context awareness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understanding the candidate's resume snippet, job title, and experience level to generate tailored recommendations. It supports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persistent memory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storing every generated session so a candidate can track and revisit past preparation.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Authentication and history layers work alongside the generation agent, enabling a secure, continuous coaching experience across sessions.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Overall, Agentic AI makes the system proactive, personalized, and goal-driven, acting like a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smart digital interview coach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that helps candidates prepare with confidence.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9"/>
          <p:cNvSpPr/>
          <p:nvPr/>
        </p:nvSpPr>
        <p:spPr>
          <a:xfrm>
            <a:off x="793192" y="3415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Token Usage </a:t>
            </a:r>
            <a:endParaRPr b="1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39"/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b="0" i="0" sz="1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5" name="Google Shape;145;p39"/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b="0" i="0" sz="1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" name="Google Shape;146;p39"/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b="0" i="0" sz="1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Google Shape;147;p39"/>
          <p:cNvSpPr txBox="1"/>
          <p:nvPr/>
        </p:nvSpPr>
        <p:spPr>
          <a:xfrm>
            <a:off x="897392" y="1042133"/>
            <a:ext cx="437117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843 tokens used by the interview-coach prompt (16,979 → 17,822)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screenshot of a computer  AI-generated content may be incorrect." id="148" name="Google Shape;148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240" y="2453592"/>
            <a:ext cx="509587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  AI-generated content may be incorrect." id="149" name="Google Shape;149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59601" y="2451181"/>
            <a:ext cx="5724525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39"/>
          <p:cNvSpPr txBox="1"/>
          <p:nvPr/>
        </p:nvSpPr>
        <p:spPr>
          <a:xfrm>
            <a:off x="1278639" y="1718067"/>
            <a:ext cx="274319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Before Prompt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39"/>
          <p:cNvSpPr txBox="1"/>
          <p:nvPr/>
        </p:nvSpPr>
        <p:spPr>
          <a:xfrm>
            <a:off x="7106828" y="1722919"/>
            <a:ext cx="274319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After the Prompt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0"/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Novelty and Uniqueness</a:t>
            </a:r>
            <a:endParaRPr b="1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40"/>
          <p:cNvSpPr txBox="1"/>
          <p:nvPr/>
        </p:nvSpPr>
        <p:spPr>
          <a:xfrm>
            <a:off x="777240" y="1207008"/>
            <a:ext cx="11301984" cy="52937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proposed Interview Trainer Agent stands out by combining 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Agentic AI, RAG, and full-stack engineering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into a single production-ready system.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RAG-Grounded Accuracy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Retrieves real, curated interview questions before generation, reducing generic or hallucinated output.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True IBM Granite Integration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Calls watsonx.ai's raw REST API directly with IAM authentication, not just a no-code builder.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Hyper-Personalization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Tailors questions, answers, and tips based on job role, experience level, and resume content.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Persistent Learning History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Every session is saved to MongoDB, letting candidates track preparation over time.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Secure, Real Auth System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JWT-based signup/login protects every interview-generation request.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Practical, Self-Tested Use Case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Built and validated against real placement-drive prep (TCS NQT, service-based company interviews).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Industry-Ready Architecture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Built on 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IBM watsonx.ai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with 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IBM Granite models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layered Express architecture, and MongoDB Atlas, ready for real deployment.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makes the solution a 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genuine engineering deliverable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not just a wrapper around a chatbot.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1"/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GitHub Link</a:t>
            </a:r>
            <a:endParaRPr b="1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41"/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repository created with README enabled, containing the full project source code.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 URL – https://github.com/himanshu-db787/interview-trainer-agent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Arial"/>
              <a:buNone/>
            </a:pPr>
            <a:r>
              <a:rPr b="1" i="0" lang="en-US" sz="1850" u="none" cap="none" strike="noStrik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Repository includes:</a:t>
            </a:r>
            <a:br>
              <a:rPr b="0" i="0" lang="en-US" sz="1850" u="none" cap="none" strike="noStrik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850" u="none" cap="none" strike="noStrik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1) Full source code (MERN stack + Langflow agents) 2) Problem Statement PDF 3) This project presentation (.pptx) 4) README with setup instructions. Live Application URL – https://interview-trainer-agent-one.vercel.app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t/>
            </a:r>
            <a:endParaRPr b="0" i="0" sz="1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" name="Google Shape;164;p41"/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b="0" i="0" sz="1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" name="Google Shape;165;p41"/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b="0" i="0" sz="1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Google Shape;166;p41"/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b="0" i="0" sz="1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42"/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Future Scope </a:t>
            </a:r>
            <a:endParaRPr b="1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42"/>
          <p:cNvSpPr/>
          <p:nvPr/>
        </p:nvSpPr>
        <p:spPr>
          <a:xfrm>
            <a:off x="1218724" y="1221715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b="1" i="0" lang="en-US" sz="1850" u="none" cap="none" strike="noStrik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Voice-Based Mock Interview Simulation –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Extend the agent with a voice interface so candidates can practice answering aloud, with feedback on clarity, pacing, and confidence — simulating a real interview panel experience.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b="1" i="0" lang="en-US" sz="1850" u="none" cap="none" strike="noStrik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Expanded RAG Knowledge Base &amp; Multilingual Support</a:t>
            </a:r>
            <a:r>
              <a:rPr b="0" i="0" lang="en-US" sz="1850" u="none" cap="none" strike="noStrik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Grow the curated question dataset to cover more companies and roles, and add regional language support so candidates from diverse linguistic backgrounds can prepare in their preferred language.</a:t>
            </a:r>
            <a:endParaRPr b="0" i="0" sz="1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" name="Google Shape;173;p42"/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b="0" i="0" sz="1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" name="Google Shape;174;p42"/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b="0" i="0" sz="1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" name="Google Shape;175;p42"/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b="0" i="0" sz="1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creenshot of a computer  AI-generated content may be incorrect." id="180" name="Google Shape;180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0862" y="1830702"/>
            <a:ext cx="6911761" cy="4520796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43"/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Certificates Earned: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43"/>
          <p:cNvSpPr txBox="1"/>
          <p:nvPr/>
        </p:nvSpPr>
        <p:spPr>
          <a:xfrm>
            <a:off x="552048" y="690061"/>
            <a:ext cx="638996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IBM SkillsBuild Certificate – Level Up Cybersecurity with Generative AI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ertificate with red text  AI-generated content may be incorrect." id="187" name="Google Shape;187;p1"/>
          <p:cNvPicPr preferRelativeResize="0"/>
          <p:nvPr/>
        </p:nvPicPr>
        <p:blipFill rotWithShape="1">
          <a:blip r:embed="rId3">
            <a:alphaModFix/>
          </a:blip>
          <a:srcRect b="-275" l="0" r="177" t="0"/>
          <a:stretch/>
        </p:blipFill>
        <p:spPr>
          <a:xfrm>
            <a:off x="2507224" y="1935287"/>
            <a:ext cx="7177552" cy="4658577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"/>
          <p:cNvSpPr txBox="1"/>
          <p:nvPr/>
        </p:nvSpPr>
        <p:spPr>
          <a:xfrm>
            <a:off x="176696" y="226391"/>
            <a:ext cx="6096000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Certificates Earned: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​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"/>
          <p:cNvSpPr txBox="1"/>
          <p:nvPr/>
        </p:nvSpPr>
        <p:spPr>
          <a:xfrm>
            <a:off x="496843" y="800470"/>
            <a:ext cx="543768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IBM SkillsBuild Certificate – Lab: Troubleshoot Your Code Using IBM Bob (Final)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2025-07-08T05:06:56Z</dcterms:created>
  <dc:creator>Manda Anirudh</dc:creator>
</cp:coreProperties>
</file>